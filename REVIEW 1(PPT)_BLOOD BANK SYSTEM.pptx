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A2B1F-C9D0-4F14-B1EE-4B969A08AF40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27A69-431F-49D2-BB99-E10B8E17E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1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27A69-431F-49D2-BB99-E10B8E17EA1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74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27A69-431F-49D2-BB99-E10B8E17EA10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4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93738" y="1407021"/>
            <a:ext cx="7143115" cy="963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3806" y="2649728"/>
            <a:ext cx="4502785" cy="2219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206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01062" y="6481636"/>
            <a:ext cx="179704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670" y="1463667"/>
            <a:ext cx="8507729" cy="2158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1869" marR="982980" algn="ctr">
              <a:lnSpc>
                <a:spcPct val="115300"/>
              </a:lnSpc>
              <a:spcBef>
                <a:spcPts val="100"/>
              </a:spcBef>
            </a:pPr>
            <a:r>
              <a:rPr lang="en-US" sz="2400" spc="-10" dirty="0"/>
              <a:t>HOSPITAL BLOOD BANK AUTOMATION SYSTEM STRUCTURED DATA HANDLING USING FILES AND ARRAYS</a:t>
            </a:r>
            <a:br>
              <a:rPr lang="en-US" sz="2400" spc="-10" dirty="0"/>
            </a:br>
            <a:r>
              <a:rPr lang="en-US" sz="2400" dirty="0"/>
              <a:t>Team</a:t>
            </a:r>
            <a:r>
              <a:rPr lang="en-US" sz="2400" spc="-75" dirty="0"/>
              <a:t> </a:t>
            </a:r>
            <a:r>
              <a:rPr lang="en-IN" sz="2400" spc="-25" dirty="0"/>
              <a:t>N</a:t>
            </a:r>
            <a:r>
              <a:rPr sz="2400" spc="-25" dirty="0"/>
              <a:t>o.</a:t>
            </a:r>
            <a:r>
              <a:rPr lang="en-US" sz="2400" spc="-25" dirty="0"/>
              <a:t>10</a:t>
            </a:r>
            <a:endParaRPr sz="2400" dirty="0"/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2400" dirty="0"/>
              <a:t>CSA0</a:t>
            </a:r>
            <a:r>
              <a:rPr lang="en-US" sz="2400" dirty="0"/>
              <a:t>219</a:t>
            </a:r>
            <a:r>
              <a:rPr sz="2400" spc="-25" dirty="0"/>
              <a:t> </a:t>
            </a:r>
            <a:r>
              <a:rPr sz="2400" dirty="0"/>
              <a:t>–C</a:t>
            </a:r>
            <a:r>
              <a:rPr lang="en-US" sz="2400" dirty="0"/>
              <a:t> Programming For Logical Thinking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228600" y="4413541"/>
            <a:ext cx="5124450" cy="194906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400" b="1" dirty="0">
                <a:solidFill>
                  <a:srgbClr val="C00000"/>
                </a:solidFill>
                <a:latin typeface="Times New Roman"/>
                <a:cs typeface="Times New Roman"/>
              </a:rPr>
              <a:t>Guided</a:t>
            </a:r>
            <a:r>
              <a:rPr sz="240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C00000"/>
                </a:solidFill>
                <a:latin typeface="Times New Roman"/>
                <a:cs typeface="Times New Roman"/>
              </a:rPr>
              <a:t>By</a:t>
            </a:r>
            <a:endParaRPr sz="2400" dirty="0">
              <a:latin typeface="Times New Roman"/>
              <a:cs typeface="Times New Roman"/>
            </a:endParaRPr>
          </a:p>
          <a:p>
            <a:pPr marL="12700" marR="5080">
              <a:lnSpc>
                <a:spcPct val="122900"/>
              </a:lnSpc>
              <a:spcBef>
                <a:spcPts val="15"/>
              </a:spcBef>
            </a:pPr>
            <a:r>
              <a:rPr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Dr.S.K.Saravanan</a:t>
            </a:r>
            <a:r>
              <a:rPr sz="2000" b="1" spc="-5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&amp;</a:t>
            </a:r>
            <a:r>
              <a:rPr sz="2000" b="1" spc="-4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Dr.A.M.Arul</a:t>
            </a:r>
            <a:r>
              <a:rPr sz="2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2060"/>
                </a:solidFill>
                <a:latin typeface="Times New Roman"/>
                <a:cs typeface="Times New Roman"/>
              </a:rPr>
              <a:t>Raj </a:t>
            </a:r>
            <a:r>
              <a:rPr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Professor</a:t>
            </a:r>
            <a:endParaRPr sz="2000" dirty="0">
              <a:latin typeface="Times New Roman"/>
              <a:cs typeface="Times New Roman"/>
            </a:endParaRPr>
          </a:p>
          <a:p>
            <a:pPr marL="12700" marR="1849755">
              <a:lnSpc>
                <a:spcPct val="122900"/>
              </a:lnSpc>
            </a:pPr>
            <a:r>
              <a:rPr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Institute</a:t>
            </a:r>
            <a:r>
              <a:rPr sz="2000" b="1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Computer Science</a:t>
            </a:r>
          </a:p>
          <a:p>
            <a:pPr marL="12700" marR="1849755">
              <a:lnSpc>
                <a:spcPct val="122900"/>
              </a:lnSpc>
            </a:pPr>
            <a:r>
              <a:rPr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2060"/>
                </a:solidFill>
                <a:latin typeface="Times New Roman"/>
                <a:cs typeface="Times New Roman"/>
              </a:rPr>
              <a:t>SIMATS</a:t>
            </a:r>
            <a:r>
              <a:rPr sz="2000" b="1" spc="-11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57935" y="4419600"/>
            <a:ext cx="4575175" cy="2459328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469900" marR="45085" indent="-457200">
              <a:lnSpc>
                <a:spcPct val="121300"/>
              </a:lnSpc>
              <a:spcBef>
                <a:spcPts val="165"/>
              </a:spcBef>
            </a:pPr>
            <a:r>
              <a:rPr lang="en-US" sz="24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Student names:</a:t>
            </a:r>
          </a:p>
          <a:p>
            <a:pPr marL="469900" marR="45085" indent="-457200">
              <a:lnSpc>
                <a:spcPct val="121300"/>
              </a:lnSpc>
              <a:spcBef>
                <a:spcPts val="165"/>
              </a:spcBef>
            </a:pPr>
            <a:r>
              <a:rPr lang="en-US" sz="24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Rashmitha (192525034)</a:t>
            </a:r>
            <a:r>
              <a:rPr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endParaRPr lang="en-US" sz="2000" b="1" spc="-1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469900" marR="45085" indent="-457200">
              <a:lnSpc>
                <a:spcPct val="121300"/>
              </a:lnSpc>
              <a:spcBef>
                <a:spcPts val="165"/>
              </a:spcBef>
            </a:pPr>
            <a:r>
              <a:rPr lang="en-IN"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Vaishali .S (192525024)</a:t>
            </a:r>
          </a:p>
          <a:p>
            <a:pPr marL="469900" marR="45085" indent="-457200">
              <a:lnSpc>
                <a:spcPct val="121300"/>
              </a:lnSpc>
              <a:spcBef>
                <a:spcPts val="165"/>
              </a:spcBef>
            </a:pPr>
            <a:r>
              <a:rPr lang="en-IN" sz="20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Vishal Balaji Jayashankar(192525014)</a:t>
            </a:r>
            <a:endParaRPr sz="2000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22900"/>
              </a:lnSpc>
            </a:pP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Institute</a:t>
            </a:r>
            <a:r>
              <a:rPr sz="2000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AIML</a:t>
            </a:r>
          </a:p>
          <a:p>
            <a:pPr marL="12700" marR="5080">
              <a:lnSpc>
                <a:spcPct val="122900"/>
              </a:lnSpc>
            </a:pP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chemeClr val="tx1"/>
                </a:solidFill>
                <a:latin typeface="Times New Roman"/>
                <a:cs typeface="Times New Roman"/>
              </a:rPr>
              <a:t>SIMATS</a:t>
            </a:r>
            <a:r>
              <a:rPr sz="2000" b="1" spc="-1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Engineering</a:t>
            </a:r>
            <a:endParaRPr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25200" y="6412421"/>
            <a:ext cx="115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D05D79-59EC-E870-2A4E-D57AB166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338E45-7071-DFCF-E0F3-E90123FFB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3738" y="1407021"/>
            <a:ext cx="7143115" cy="657230"/>
          </a:xfrm>
          <a:prstGeom prst="rect">
            <a:avLst/>
          </a:prstGeom>
        </p:spPr>
        <p:txBody>
          <a:bodyPr vert="horz" wrap="square" lIns="0" tIns="102234" rIns="0" bIns="0" rtlCol="0">
            <a:spAutoFit/>
          </a:bodyPr>
          <a:lstStyle/>
          <a:p>
            <a:pPr marL="2132965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ABSTRACT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706E6CA-C9FB-E083-2779-78113E236F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E5D7A65-32E3-7B4C-E643-3F888A5D1CC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E8BAE6-E7C9-ECBE-3C56-58EC75540A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668546"/>
            <a:ext cx="611347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Blood bank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Manual record limitations.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works.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33ADD4-DB4C-354C-A3F2-465A23A21D5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2000" y="3868579"/>
            <a:ext cx="741768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create a File-based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display the Web-based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efficiency and accuracy.</a:t>
            </a:r>
          </a:p>
        </p:txBody>
      </p:sp>
    </p:spTree>
    <p:extLst>
      <p:ext uri="{BB962C8B-B14F-4D97-AF65-F5344CB8AC3E}">
        <p14:creationId xmlns:p14="http://schemas.microsoft.com/office/powerpoint/2010/main" val="2551759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947" y="1143000"/>
            <a:ext cx="7143115" cy="963930"/>
          </a:xfrm>
          <a:prstGeom prst="rect">
            <a:avLst/>
          </a:prstGeom>
        </p:spPr>
        <p:txBody>
          <a:bodyPr vert="horz" wrap="square" lIns="0" tIns="102234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dirty="0"/>
              <a:t>Aim</a:t>
            </a:r>
            <a:r>
              <a:rPr spc="-4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41014" y="1888986"/>
            <a:ext cx="6116594" cy="565283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 blood bank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manual effort.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data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Donor data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Blood stock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handling for data persistence.</a:t>
            </a:r>
          </a:p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C program design.</a:t>
            </a:r>
          </a:p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b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Web-based report generation.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endParaRPr lang="en-US" dirty="0"/>
          </a:p>
          <a:p>
            <a:pPr marL="395605" indent="-382905">
              <a:lnSpc>
                <a:spcPct val="100000"/>
              </a:lnSpc>
              <a:spcBef>
                <a:spcPts val="1540"/>
              </a:spcBef>
              <a:buFont typeface="Segoe UI Symbol"/>
              <a:buChar char="⚫"/>
              <a:tabLst>
                <a:tab pos="395605" algn="l"/>
              </a:tabLst>
            </a:pP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947" y="1069374"/>
            <a:ext cx="7143115" cy="963930"/>
          </a:xfrm>
          <a:prstGeom prst="rect">
            <a:avLst/>
          </a:prstGeom>
        </p:spPr>
        <p:txBody>
          <a:bodyPr vert="horz" wrap="square" lIns="0" tIns="102234" rIns="0" bIns="0" rtlCol="0">
            <a:spAutoFit/>
          </a:bodyPr>
          <a:lstStyle/>
          <a:p>
            <a:pPr marL="21329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454B33-3723-3A06-476F-0945BD5A6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137" y="1601489"/>
            <a:ext cx="6497594" cy="4985980"/>
          </a:xfrm>
        </p:spPr>
        <p:txBody>
          <a:bodyPr/>
          <a:lstStyle/>
          <a:p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Role in emergency medical care.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Need for accurate blood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Challenges in manual record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Requirement for fast data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Use of computer-based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Automation in healthcare services.</a:t>
            </a:r>
          </a:p>
          <a:p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File-based data storage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1"/>
                </a:solidFill>
              </a:rPr>
              <a:t>Web-based output visualization.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17" y="1178421"/>
            <a:ext cx="6089015" cy="9639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2301875" marR="5080" indent="-2289810">
              <a:lnSpc>
                <a:spcPts val="3500"/>
              </a:lnSpc>
              <a:spcBef>
                <a:spcPts val="540"/>
              </a:spcBef>
            </a:pPr>
            <a:r>
              <a:rPr sz="3200" dirty="0"/>
              <a:t>Literature</a:t>
            </a:r>
            <a:r>
              <a:rPr sz="3200" spc="70" dirty="0"/>
              <a:t> </a:t>
            </a:r>
            <a:r>
              <a:rPr sz="3200" dirty="0"/>
              <a:t>Review</a:t>
            </a:r>
            <a:r>
              <a:rPr sz="3200" spc="70" dirty="0"/>
              <a:t> </a:t>
            </a:r>
            <a:r>
              <a:rPr sz="3200" dirty="0"/>
              <a:t>&amp;</a:t>
            </a:r>
            <a:r>
              <a:rPr sz="3200" spc="75" dirty="0"/>
              <a:t> </a:t>
            </a:r>
            <a:r>
              <a:rPr sz="3200" spc="-10" dirty="0"/>
              <a:t>Requirement Analysis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E86658F-8E9F-390E-F27C-1B2E88048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79868"/>
              </p:ext>
            </p:extLst>
          </p:nvPr>
        </p:nvGraphicFramePr>
        <p:xfrm>
          <a:off x="685800" y="2391431"/>
          <a:ext cx="8077202" cy="4090206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840800787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96102237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483477976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2451430751"/>
                    </a:ext>
                  </a:extLst>
                </a:gridCol>
                <a:gridCol w="1153886">
                  <a:extLst>
                    <a:ext uri="{9D8B030D-6E8A-4147-A177-3AD203B41FA5}">
                      <a16:colId xmlns:a16="http://schemas.microsoft.com/office/drawing/2014/main" val="395320689"/>
                    </a:ext>
                  </a:extLst>
                </a:gridCol>
                <a:gridCol w="1153886">
                  <a:extLst>
                    <a:ext uri="{9D8B030D-6E8A-4147-A177-3AD203B41FA5}">
                      <a16:colId xmlns:a16="http://schemas.microsoft.com/office/drawing/2014/main" val="570406323"/>
                    </a:ext>
                  </a:extLst>
                </a:gridCol>
                <a:gridCol w="1153886">
                  <a:extLst>
                    <a:ext uri="{9D8B030D-6E8A-4147-A177-3AD203B41FA5}">
                      <a16:colId xmlns:a16="http://schemas.microsoft.com/office/drawing/2014/main" val="1974689184"/>
                    </a:ext>
                  </a:extLst>
                </a:gridCol>
              </a:tblGrid>
              <a:tr h="486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 err="1"/>
                        <a:t>S.No</a:t>
                      </a:r>
                      <a:endParaRPr lang="en-IN" sz="1200" b="1" dirty="0"/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Year of Publication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Author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Title of the Journal / Book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Methodology Used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Algorithm Used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/>
                        <a:t>Key Findings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52072"/>
                  </a:ext>
                </a:extLst>
              </a:tr>
              <a:tr h="10178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1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2019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Smith et al.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Blood Bank Management System: A Review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Manual record analysis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None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Manual systems are error-prone and time-consuming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151616"/>
                  </a:ext>
                </a:extLst>
              </a:tr>
              <a:tr h="850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2021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Kumar &amp; Rao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Design of Automated Blood Bank Systems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Database-driven automation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Record-based retrieval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Automation improves accuracy but increases cost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496231"/>
                  </a:ext>
                </a:extLst>
              </a:tr>
              <a:tr h="8502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2022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Lee et al.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Healthcare Information Systems in Hospitals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Centralized data processing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Search and update algorithms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Faster data access and improved efficiency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004139"/>
                  </a:ext>
                </a:extLst>
              </a:tr>
              <a:tr h="8850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2023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Patel et al.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Web-Based Blood Bank Management System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Cloud-based web architecture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Query-based stock checking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Web systems depend heavily on internet availability</a:t>
                      </a:r>
                    </a:p>
                  </a:txBody>
                  <a:tcPr marL="12203" marR="12203" marT="6101" marB="61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5566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4632" y="1445913"/>
            <a:ext cx="3796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2209800"/>
            <a:ext cx="5566410" cy="408316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Manual blood record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redundancy.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Human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Slow data retrieval.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Emergency response delays.</a:t>
            </a:r>
          </a:p>
          <a:p>
            <a:pPr marL="386080" indent="-373380">
              <a:lnSpc>
                <a:spcPct val="100000"/>
              </a:lnSpc>
              <a:spcBef>
                <a:spcPts val="1540"/>
              </a:spcBef>
              <a:buFont typeface="Segoe UI Symbol"/>
              <a:buChar char="⚫"/>
              <a:tabLst>
                <a:tab pos="38608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4FE53-E831-D517-0AB5-CCC7643A1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04870">
            <a:off x="7027124" y="2171350"/>
            <a:ext cx="1303133" cy="1470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87A14D-39CF-E449-0963-C01C2FA0C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964" y="3049894"/>
            <a:ext cx="1557867" cy="1290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36198-AF2F-57EF-8AFA-EDC5DC74E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4251384"/>
            <a:ext cx="1424447" cy="1219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096A53-708C-D206-186C-5B80E71768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757"/>
          <a:stretch>
            <a:fillRect/>
          </a:stretch>
        </p:blipFill>
        <p:spPr>
          <a:xfrm>
            <a:off x="5334000" y="5069157"/>
            <a:ext cx="1424447" cy="10421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0866" y="1215864"/>
            <a:ext cx="7143115" cy="963930"/>
          </a:xfrm>
          <a:prstGeom prst="rect">
            <a:avLst/>
          </a:prstGeom>
        </p:spPr>
        <p:txBody>
          <a:bodyPr vert="horz" wrap="square" lIns="0" tIns="432592" rIns="0" bIns="0" rtlCol="0">
            <a:spAutoFit/>
          </a:bodyPr>
          <a:lstStyle/>
          <a:p>
            <a:pPr marL="1951989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2406" y="2497327"/>
            <a:ext cx="6670675" cy="566822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95605" indent="-382905">
              <a:lnSpc>
                <a:spcPct val="100000"/>
              </a:lnSpc>
              <a:spcBef>
                <a:spcPts val="1540"/>
              </a:spcBef>
              <a:buFont typeface="Segoe UI Symbol"/>
              <a:buChar char="⚫"/>
              <a:tabLst>
                <a:tab pos="39560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F8FE93-4720-66AD-8B43-5F0C3B5AFE64}"/>
              </a:ext>
            </a:extLst>
          </p:cNvPr>
          <p:cNvSpPr txBox="1"/>
          <p:nvPr/>
        </p:nvSpPr>
        <p:spPr>
          <a:xfrm>
            <a:off x="838200" y="2497327"/>
            <a:ext cx="7462862" cy="329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1A10F3C-37AB-1FA5-4966-C7FBE24FA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81" y="2497327"/>
            <a:ext cx="7010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Paper-based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donor entry.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data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centralized storage.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DD6555-2CDE-CFA8-07FD-E462B19EE2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0"/>
          <a:stretch>
            <a:fillRect/>
          </a:stretch>
        </p:blipFill>
        <p:spPr>
          <a:xfrm>
            <a:off x="4920513" y="2497327"/>
            <a:ext cx="3522153" cy="341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2104" y="1826913"/>
            <a:ext cx="3479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9464" algn="l"/>
              </a:tabLst>
            </a:pPr>
            <a:r>
              <a:rPr spc="-10" dirty="0"/>
              <a:t>Proposed</a:t>
            </a:r>
            <a:r>
              <a:rPr dirty="0"/>
              <a:t>	</a:t>
            </a:r>
            <a:r>
              <a:rPr spc="-10" dirty="0"/>
              <a:t>System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9AA6523-226A-EC57-15F6-93603182FA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7670" y="2590800"/>
            <a:ext cx="75164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donor registration.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File-based data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modular C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output display.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reliability.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3A8FAF-B3BD-CD27-A83A-C5B67AF915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29"/>
          <a:stretch>
            <a:fillRect/>
          </a:stretch>
        </p:blipFill>
        <p:spPr>
          <a:xfrm>
            <a:off x="5026366" y="2656132"/>
            <a:ext cx="3429000" cy="31701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9012" y="1529917"/>
            <a:ext cx="7165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Overall</a:t>
            </a:r>
            <a:r>
              <a:rPr spc="-140" dirty="0"/>
              <a:t> </a:t>
            </a:r>
            <a:r>
              <a:rPr dirty="0"/>
              <a:t>System</a:t>
            </a:r>
            <a:r>
              <a:rPr spc="-130" dirty="0"/>
              <a:t> </a:t>
            </a:r>
            <a:r>
              <a:rPr spc="-10" dirty="0"/>
              <a:t>Architectur</a:t>
            </a:r>
            <a:r>
              <a:rPr lang="en-US" spc="-10" dirty="0"/>
              <a:t>a</a:t>
            </a:r>
            <a:r>
              <a:rPr spc="-10" dirty="0"/>
              <a:t>l</a:t>
            </a:r>
            <a:r>
              <a:rPr spc="-135" dirty="0"/>
              <a:t> </a:t>
            </a:r>
            <a:r>
              <a:rPr spc="-10" dirty="0"/>
              <a:t>Design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40929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30C7EE-3EBD-8845-7E23-BD0442C8F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012" y="2640520"/>
            <a:ext cx="92202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 application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storage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output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Browser-based display.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EF2C8F-95FC-1BA0-2CCE-4A8BF47C32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5"/>
          <a:stretch>
            <a:fillRect/>
          </a:stretch>
        </p:blipFill>
        <p:spPr>
          <a:xfrm>
            <a:off x="4495800" y="2514600"/>
            <a:ext cx="3659187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2644" y="1705420"/>
            <a:ext cx="6780530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dirty="0"/>
              <a:t>Proposed</a:t>
            </a:r>
            <a:r>
              <a:rPr sz="3200" spc="105" dirty="0"/>
              <a:t> </a:t>
            </a:r>
            <a:r>
              <a:rPr sz="3200" dirty="0"/>
              <a:t>Methodology</a:t>
            </a:r>
            <a:r>
              <a:rPr sz="3200" spc="114" dirty="0"/>
              <a:t> </a:t>
            </a:r>
            <a:r>
              <a:rPr sz="3200" dirty="0"/>
              <a:t>and</a:t>
            </a:r>
            <a:r>
              <a:rPr sz="3200" spc="110" dirty="0"/>
              <a:t> </a:t>
            </a:r>
            <a:r>
              <a:rPr sz="3200" spc="-10" dirty="0"/>
              <a:t>Algorithm</a:t>
            </a:r>
            <a:endParaRPr sz="32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947B0AC-68F2-898C-3BFD-8764F0D82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639199"/>
            <a:ext cx="72390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 in 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read/write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generation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display in browser.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932D0A-F13D-9554-7430-ADA5A5E98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00" t="11824" r="-1" b="11579"/>
          <a:stretch>
            <a:fillRect/>
          </a:stretch>
        </p:blipFill>
        <p:spPr>
          <a:xfrm>
            <a:off x="5410200" y="2514600"/>
            <a:ext cx="2743200" cy="3814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2564" y="1038886"/>
            <a:ext cx="5319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Design</a:t>
            </a:r>
            <a:r>
              <a:rPr spc="-3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dirty="0"/>
              <a:t>Module</a:t>
            </a:r>
            <a:r>
              <a:rPr spc="-30" dirty="0"/>
              <a:t> </a:t>
            </a:r>
            <a:r>
              <a:rPr spc="-10" dirty="0"/>
              <a:t>Planning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0951" y="533400"/>
            <a:ext cx="624527" cy="8272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388117"/>
            <a:ext cx="885824" cy="8858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ADD89-37E2-9E16-4B0C-0EE239AC5A1E}"/>
              </a:ext>
            </a:extLst>
          </p:cNvPr>
          <p:cNvSpPr txBox="1"/>
          <p:nvPr/>
        </p:nvSpPr>
        <p:spPr>
          <a:xfrm>
            <a:off x="823912" y="2133600"/>
            <a:ext cx="6781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Modular system architecture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Independent functional modules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maintenance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design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Modules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Donor Registration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Blood Stock Management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Blood Issue &amp; Report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0565F5-33F0-7B33-FC3E-E7846F1706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9" t="10030" r="4419" b="52015"/>
          <a:stretch>
            <a:fillRect/>
          </a:stretch>
        </p:blipFill>
        <p:spPr>
          <a:xfrm>
            <a:off x="4536384" y="2743200"/>
            <a:ext cx="410881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976" y="1207206"/>
            <a:ext cx="7143115" cy="490006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157220" marR="5080" indent="-3170555">
              <a:lnSpc>
                <a:spcPts val="3500"/>
              </a:lnSpc>
              <a:spcBef>
                <a:spcPts val="540"/>
              </a:spcBef>
            </a:pPr>
            <a:r>
              <a:rPr sz="2800" dirty="0"/>
              <a:t>Module</a:t>
            </a:r>
            <a:r>
              <a:rPr sz="2800" spc="55" dirty="0"/>
              <a:t> </a:t>
            </a:r>
            <a:r>
              <a:rPr sz="2800" dirty="0"/>
              <a:t>1</a:t>
            </a:r>
            <a:r>
              <a:rPr sz="2800" spc="60" dirty="0"/>
              <a:t> </a:t>
            </a:r>
            <a:r>
              <a:rPr sz="2800" dirty="0"/>
              <a:t>–</a:t>
            </a:r>
            <a:r>
              <a:rPr sz="2800" spc="60" dirty="0"/>
              <a:t> </a:t>
            </a:r>
            <a:r>
              <a:rPr lang="en-US" sz="2800" spc="60" dirty="0"/>
              <a:t>I</a:t>
            </a:r>
            <a:r>
              <a:rPr sz="2800" dirty="0"/>
              <a:t>ntroduction</a:t>
            </a:r>
            <a:r>
              <a:rPr sz="2800" spc="55" dirty="0"/>
              <a:t> </a:t>
            </a:r>
            <a:r>
              <a:rPr sz="2800" dirty="0"/>
              <a:t>&amp;</a:t>
            </a:r>
            <a:r>
              <a:rPr sz="2800" spc="60" dirty="0"/>
              <a:t> </a:t>
            </a:r>
            <a:r>
              <a:rPr sz="2800" spc="-10" dirty="0"/>
              <a:t>Development </a:t>
            </a:r>
            <a:r>
              <a:rPr sz="2800" spc="-20" dirty="0"/>
              <a:t>plan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6D9E2-266D-48AF-85BA-4E321C7E08DF}"/>
              </a:ext>
            </a:extLst>
          </p:cNvPr>
          <p:cNvSpPr txBox="1"/>
          <p:nvPr/>
        </p:nvSpPr>
        <p:spPr>
          <a:xfrm>
            <a:off x="165733" y="1871625"/>
            <a:ext cx="8991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Donor Registration and Blood Collection Module</a:t>
            </a:r>
          </a:p>
          <a:p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Donor information capture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Unique donor ID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Blood group identification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Blood unit collection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Input data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Temporary storage using arrays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Permanent storage using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Successful registration confirmation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58922D-BC01-8321-0129-1DE52E918A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979" y="3179004"/>
            <a:ext cx="4919848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9659" y="1198740"/>
            <a:ext cx="7143115" cy="490006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157220" marR="5080" indent="-3170555">
              <a:lnSpc>
                <a:spcPts val="3500"/>
              </a:lnSpc>
              <a:spcBef>
                <a:spcPts val="540"/>
              </a:spcBef>
            </a:pPr>
            <a:r>
              <a:rPr sz="2800" dirty="0"/>
              <a:t>Module</a:t>
            </a:r>
            <a:r>
              <a:rPr sz="2800" spc="55" dirty="0"/>
              <a:t> </a:t>
            </a:r>
            <a:r>
              <a:rPr sz="2800" dirty="0"/>
              <a:t>2</a:t>
            </a:r>
            <a:r>
              <a:rPr sz="2800" spc="60" dirty="0"/>
              <a:t> </a:t>
            </a:r>
            <a:r>
              <a:rPr sz="2800" dirty="0"/>
              <a:t>–</a:t>
            </a:r>
            <a:r>
              <a:rPr sz="2800" spc="60" dirty="0"/>
              <a:t> </a:t>
            </a:r>
            <a:r>
              <a:rPr lang="en-US" sz="2800" spc="60" dirty="0"/>
              <a:t>I</a:t>
            </a:r>
            <a:r>
              <a:rPr sz="2800" dirty="0"/>
              <a:t>ntroduction</a:t>
            </a:r>
            <a:r>
              <a:rPr sz="2800" spc="55" dirty="0"/>
              <a:t> </a:t>
            </a:r>
            <a:r>
              <a:rPr sz="2800" dirty="0"/>
              <a:t>&amp;</a:t>
            </a:r>
            <a:r>
              <a:rPr sz="2800" spc="60" dirty="0"/>
              <a:t> </a:t>
            </a:r>
            <a:r>
              <a:rPr sz="2800" spc="-10" dirty="0"/>
              <a:t>Development </a:t>
            </a:r>
            <a:r>
              <a:rPr sz="2800" spc="-20" dirty="0"/>
              <a:t>plan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58ACBE-C3CE-DAEA-5F57-C265F9E87C38}"/>
              </a:ext>
            </a:extLst>
          </p:cNvPr>
          <p:cNvSpPr txBox="1"/>
          <p:nvPr/>
        </p:nvSpPr>
        <p:spPr>
          <a:xfrm>
            <a:off x="472229" y="1880094"/>
            <a:ext cx="7794966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Blood Stock Management Module</a:t>
            </a:r>
          </a:p>
          <a:p>
            <a:pPr algn="ctr"/>
            <a:endParaRPr lang="en-IN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Blood group-wise stock maintenance.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units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Stock update after donation.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Stock update after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File-based data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Prevents duplicate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Ensures accurate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Quick data retrieval.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96F540C6-8D1E-83C3-7A92-927EAB0814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1BD2C2-577B-6AEF-6398-6B3E91DBD8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354" y="3124200"/>
            <a:ext cx="4875284" cy="24498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3738" y="1407021"/>
            <a:ext cx="7143115" cy="490006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182620" marR="5080" indent="-3170555">
              <a:lnSpc>
                <a:spcPts val="3500"/>
              </a:lnSpc>
              <a:spcBef>
                <a:spcPts val="540"/>
              </a:spcBef>
            </a:pPr>
            <a:r>
              <a:rPr sz="2800" dirty="0"/>
              <a:t>Module</a:t>
            </a:r>
            <a:r>
              <a:rPr sz="2800" spc="55" dirty="0"/>
              <a:t> </a:t>
            </a:r>
            <a:r>
              <a:rPr sz="2800" dirty="0"/>
              <a:t>3</a:t>
            </a:r>
            <a:r>
              <a:rPr sz="2800" spc="60" dirty="0"/>
              <a:t> </a:t>
            </a:r>
            <a:r>
              <a:rPr sz="2800" dirty="0"/>
              <a:t>–</a:t>
            </a:r>
            <a:r>
              <a:rPr sz="2800" spc="60" dirty="0"/>
              <a:t> </a:t>
            </a:r>
            <a:r>
              <a:rPr lang="en-US" sz="2800" spc="60" dirty="0"/>
              <a:t>I</a:t>
            </a:r>
            <a:r>
              <a:rPr sz="2800" dirty="0"/>
              <a:t>ntroduction</a:t>
            </a:r>
            <a:r>
              <a:rPr sz="2800" spc="55" dirty="0"/>
              <a:t> </a:t>
            </a:r>
            <a:r>
              <a:rPr sz="2800" dirty="0"/>
              <a:t>&amp;</a:t>
            </a:r>
            <a:r>
              <a:rPr sz="2800" spc="60" dirty="0"/>
              <a:t> </a:t>
            </a:r>
            <a:r>
              <a:rPr sz="2800" spc="-10" dirty="0"/>
              <a:t>Development </a:t>
            </a:r>
            <a:r>
              <a:rPr sz="2800" spc="-20" dirty="0"/>
              <a:t>plan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A7E7A-6CBB-E8EB-BC4F-901CB12D716C}"/>
              </a:ext>
            </a:extLst>
          </p:cNvPr>
          <p:cNvSpPr txBox="1"/>
          <p:nvPr/>
        </p:nvSpPr>
        <p:spPr>
          <a:xfrm>
            <a:off x="407670" y="2133600"/>
            <a:ext cx="80264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Blood Issue and Availability Report Module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Blood request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Availability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Blood issue approval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Unit reduction after issue.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Generation of availability report.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Tabular web-based display.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Real-time stock status.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User-friendly output.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874DA6-A91C-B8D1-72BB-167698626E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9" y="3051151"/>
            <a:ext cx="4926331" cy="31960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992" rIns="0" bIns="0" rtlCol="0">
            <a:spAutoFit/>
          </a:bodyPr>
          <a:lstStyle/>
          <a:p>
            <a:pPr marL="24536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651010-6D5B-A38C-A480-DDB5F40979F1}"/>
              </a:ext>
            </a:extLst>
          </p:cNvPr>
          <p:cNvSpPr txBox="1"/>
          <p:nvPr/>
        </p:nvSpPr>
        <p:spPr>
          <a:xfrm>
            <a:off x="661034" y="2514600"/>
            <a:ext cx="8001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Real-world healthcare problem is solved.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Automated solution is implemented.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Efficient data management is done.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Accessibility has been improved.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Scalable system design is developed.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3206" y="1502888"/>
            <a:ext cx="2157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374809"/>
            <a:ext cx="6522359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Dennis Ritchie – C Programming.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IEEE Healthcare Automation Papers.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Hospital Information System Journals.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Web Technology Documentation.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560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670" y="354968"/>
            <a:ext cx="8507729" cy="652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661</Words>
  <Application>Microsoft Office PowerPoint</Application>
  <PresentationFormat>On-screen Show (4:3)</PresentationFormat>
  <Paragraphs>252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 Symbol</vt:lpstr>
      <vt:lpstr>Times New Roman</vt:lpstr>
      <vt:lpstr>Office Theme</vt:lpstr>
      <vt:lpstr>HOSPITAL BLOOD BANK AUTOMATION SYSTEM STRUCTURED DATA HANDLING USING FILES AND ARRAYS Team No.10 CSA0219 –C Programming For Logical Thinking</vt:lpstr>
      <vt:lpstr>ABSTRACT</vt:lpstr>
      <vt:lpstr>Aim and Objective</vt:lpstr>
      <vt:lpstr>Introduction</vt:lpstr>
      <vt:lpstr>Literature Review &amp; Requirement Analysis</vt:lpstr>
      <vt:lpstr>Problem Statement</vt:lpstr>
      <vt:lpstr>Existing System</vt:lpstr>
      <vt:lpstr>Proposed System</vt:lpstr>
      <vt:lpstr>Overall System Architectural Design</vt:lpstr>
      <vt:lpstr>Proposed Methodology and Algorithm</vt:lpstr>
      <vt:lpstr>Design &amp; Module Planning</vt:lpstr>
      <vt:lpstr>Module 1 – Introduction &amp; Development plan</vt:lpstr>
      <vt:lpstr>Module 2 – Introduction &amp; Development plan</vt:lpstr>
      <vt:lpstr>Module 3 – Introduction &amp; Development plan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Rashmitha Senthil kumar</cp:lastModifiedBy>
  <cp:revision>5</cp:revision>
  <dcterms:created xsi:type="dcterms:W3CDTF">2026-02-04T00:48:17Z</dcterms:created>
  <dcterms:modified xsi:type="dcterms:W3CDTF">2026-02-04T09:07:27Z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2026-02-04T00:00:00Z</vt:filetime>
  </property>
</Properties>
</file>